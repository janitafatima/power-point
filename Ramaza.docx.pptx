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FF66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3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7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7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76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2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6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3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6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9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8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4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41ECD-CC0D-432B-98E1-D1316E28331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DA8FF-EBE5-4FE0-9994-D1269CA498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36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7030A0"/>
                </a:solidFill>
                <a:latin typeface="Brush Script MT" panose="03060802040406070304" pitchFamily="66" charset="0"/>
              </a:rPr>
              <a:t>JavaScript Basics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6446E4"/>
                </a:solidFill>
                <a:latin typeface="Castellar" panose="020A0402060406010301" pitchFamily="18" charset="0"/>
              </a:rPr>
              <a:t>Presented By: </a:t>
            </a:r>
            <a:r>
              <a:rPr lang="en-US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Janita Fatima</a:t>
            </a:r>
          </a:p>
          <a:p>
            <a:r>
              <a:rPr lang="en-US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4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Introduction to JavaScript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rgbClr val="7030A0"/>
                </a:solidFill>
              </a:rPr>
              <a:t>• </a:t>
            </a:r>
            <a:r>
              <a:rPr lang="en-US" dirty="0">
                <a:solidFill>
                  <a:srgbClr val="7030A0"/>
                </a:solidFill>
                <a:latin typeface="Blackadder ITC" panose="04020505051007020D02" pitchFamily="82" charset="0"/>
              </a:rPr>
              <a:t>JavaScript is a programming language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>
              <a:defRPr sz="2200"/>
            </a:pPr>
            <a:r>
              <a:rPr lang="en-US" dirty="0">
                <a:solidFill>
                  <a:srgbClr val="7030A0"/>
                </a:solidFill>
              </a:rPr>
              <a:t>• </a:t>
            </a:r>
            <a:r>
              <a:rPr lang="en-US" dirty="0">
                <a:solidFill>
                  <a:srgbClr val="7030A0"/>
                </a:solidFill>
                <a:latin typeface="Blackadder ITC" panose="04020505051007020D02" pitchFamily="82" charset="0"/>
              </a:rPr>
              <a:t>It makes websites interactive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>
              <a:defRPr sz="2200"/>
            </a:pPr>
            <a:r>
              <a:rPr lang="en-US" dirty="0">
                <a:solidFill>
                  <a:srgbClr val="7030A0"/>
                </a:solidFill>
              </a:rPr>
              <a:t>• </a:t>
            </a:r>
            <a:r>
              <a:rPr lang="en-US" dirty="0">
                <a:solidFill>
                  <a:srgbClr val="7030A0"/>
                </a:solidFill>
                <a:latin typeface="Blackadder ITC" panose="04020505051007020D02" pitchFamily="82" charset="0"/>
              </a:rPr>
              <a:t>Works with HTML and CSS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9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Alerts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rgbClr val="FF9900"/>
                </a:solidFill>
              </a:rPr>
              <a:t>• </a:t>
            </a:r>
            <a:r>
              <a:rPr lang="en-US" dirty="0">
                <a:solidFill>
                  <a:srgbClr val="FF9900"/>
                </a:solidFill>
                <a:latin typeface="Blackadder ITC" panose="04020505051007020D02" pitchFamily="82" charset="0"/>
              </a:rPr>
              <a:t>alert() shows a popup message.</a:t>
            </a:r>
          </a:p>
          <a:p>
            <a:pPr>
              <a:defRPr sz="2200"/>
            </a:pPr>
            <a:r>
              <a:rPr lang="en-US" dirty="0">
                <a:solidFill>
                  <a:srgbClr val="FF9900"/>
                </a:solidFill>
              </a:rPr>
              <a:t>• </a:t>
            </a:r>
            <a:r>
              <a:rPr lang="en-US" dirty="0" smtClean="0">
                <a:solidFill>
                  <a:srgbClr val="FF9900"/>
                </a:solidFill>
                <a:latin typeface="Blackadder ITC" panose="04020505051007020D02" pitchFamily="82" charset="0"/>
              </a:rPr>
              <a:t>Code</a:t>
            </a:r>
            <a:r>
              <a:rPr lang="en-US" dirty="0">
                <a:solidFill>
                  <a:srgbClr val="FF9900"/>
                </a:solidFill>
                <a:latin typeface="Blackadder ITC" panose="04020505051007020D02" pitchFamily="82" charset="0"/>
              </a:rPr>
              <a:t>:</a:t>
            </a:r>
          </a:p>
          <a:p>
            <a:pPr>
              <a:defRPr sz="2200"/>
            </a:pPr>
            <a:r>
              <a:rPr lang="en-US" dirty="0">
                <a:solidFill>
                  <a:srgbClr val="FF9900"/>
                </a:solidFill>
              </a:rPr>
              <a:t>• </a:t>
            </a:r>
            <a:r>
              <a:rPr lang="en-US" dirty="0" smtClean="0">
                <a:solidFill>
                  <a:srgbClr val="FF9900"/>
                </a:solidFill>
                <a:latin typeface="Blackadder ITC" panose="04020505051007020D02" pitchFamily="82" charset="0"/>
              </a:rPr>
              <a:t>alert</a:t>
            </a:r>
            <a:r>
              <a:rPr lang="en-US" dirty="0">
                <a:solidFill>
                  <a:srgbClr val="FF9900"/>
                </a:solidFill>
                <a:latin typeface="Blackadder ITC" panose="04020505051007020D02" pitchFamily="82" charset="0"/>
              </a:rPr>
              <a:t>('Welcome!');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2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</a:rPr>
              <a:t>Variables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rgbClr val="66CCFF"/>
                </a:solidFill>
              </a:rPr>
              <a:t>• </a:t>
            </a:r>
            <a:r>
              <a:rPr lang="en-US" dirty="0">
                <a:solidFill>
                  <a:srgbClr val="66CCFF"/>
                </a:solidFill>
                <a:latin typeface="Blackadder ITC" panose="04020505051007020D02" pitchFamily="82" charset="0"/>
              </a:rPr>
              <a:t>Variables store data.</a:t>
            </a:r>
          </a:p>
          <a:p>
            <a:pPr>
              <a:defRPr sz="2200"/>
            </a:pPr>
            <a:r>
              <a:rPr lang="en-US" dirty="0">
                <a:solidFill>
                  <a:srgbClr val="66CCFF"/>
                </a:solidFill>
              </a:rPr>
              <a:t>• </a:t>
            </a:r>
            <a:r>
              <a:rPr lang="en-US" dirty="0">
                <a:solidFill>
                  <a:srgbClr val="66CCFF"/>
                </a:solidFill>
                <a:latin typeface="Blackadder ITC" panose="04020505051007020D02" pitchFamily="82" charset="0"/>
              </a:rPr>
              <a:t>String: let name='Janita';</a:t>
            </a:r>
          </a:p>
          <a:p>
            <a:pPr>
              <a:defRPr sz="2200"/>
            </a:pPr>
            <a:r>
              <a:rPr lang="en-US" dirty="0">
                <a:solidFill>
                  <a:srgbClr val="66CCFF"/>
                </a:solidFill>
              </a:rPr>
              <a:t>• </a:t>
            </a:r>
            <a:r>
              <a:rPr lang="en-US" dirty="0">
                <a:solidFill>
                  <a:srgbClr val="66CCFF"/>
                </a:solidFill>
                <a:latin typeface="Blackadder ITC" panose="04020505051007020D02" pitchFamily="82" charset="0"/>
              </a:rPr>
              <a:t>Number: let age=18;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7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ivaldi" panose="03020602050506090804" pitchFamily="66" charset="0"/>
              </a:rPr>
              <a:t>Variable Names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rgbClr val="FF66FF"/>
                </a:solidFill>
              </a:rPr>
              <a:t>•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Legal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: </a:t>
            </a:r>
            <a:r>
              <a:rPr lang="en-US" dirty="0" err="1">
                <a:solidFill>
                  <a:srgbClr val="FF66FF"/>
                </a:solidFill>
                <a:latin typeface="Blackadder ITC" panose="04020505051007020D02" pitchFamily="82" charset="0"/>
              </a:rPr>
              <a:t>studentName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, _age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</a:rPr>
              <a:t>•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Illegal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: 1name, my-name, </a:t>
            </a:r>
            <a:r>
              <a:rPr lang="en-US" dirty="0" err="1">
                <a:solidFill>
                  <a:srgbClr val="FF66FF"/>
                </a:solidFill>
                <a:latin typeface="Blackadder ITC" panose="04020505051007020D02" pitchFamily="82" charset="0"/>
              </a:rPr>
              <a:t>var</a:t>
            </a:r>
            <a:endParaRPr lang="en-US" dirty="0">
              <a:solidFill>
                <a:srgbClr val="FF66FF"/>
              </a:solidFill>
              <a:latin typeface="Blackadder ITC" panose="04020505051007020D02" pitchFamily="8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6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Math Expressions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rgbClr val="33CCFF"/>
                </a:solidFill>
              </a:rPr>
              <a:t>• </a:t>
            </a:r>
            <a:r>
              <a:rPr lang="en-US" dirty="0" smtClean="0">
                <a:solidFill>
                  <a:srgbClr val="66CCFF"/>
                </a:solidFill>
                <a:latin typeface="Blackadder ITC" panose="04020505051007020D02" pitchFamily="82" charset="0"/>
              </a:rPr>
              <a:t>Operators</a:t>
            </a:r>
            <a:r>
              <a:rPr lang="en-US" dirty="0">
                <a:solidFill>
                  <a:srgbClr val="66CCFF"/>
                </a:solidFill>
                <a:latin typeface="Blackadder ITC" panose="04020505051007020D02" pitchFamily="82" charset="0"/>
              </a:rPr>
              <a:t>: +  -  *  /  %</a:t>
            </a:r>
          </a:p>
          <a:p>
            <a:pPr>
              <a:defRPr sz="2200"/>
            </a:pPr>
            <a:r>
              <a:rPr lang="en-US" dirty="0">
                <a:solidFill>
                  <a:srgbClr val="33CCFF"/>
                </a:solidFill>
              </a:rPr>
              <a:t>•</a:t>
            </a:r>
            <a:r>
              <a:rPr lang="en-US" dirty="0">
                <a:solidFill>
                  <a:srgbClr val="FF66FF"/>
                </a:solidFill>
              </a:rPr>
              <a:t> </a:t>
            </a:r>
            <a:r>
              <a:rPr lang="en-US" dirty="0" smtClean="0">
                <a:solidFill>
                  <a:srgbClr val="66CCFF"/>
                </a:solidFill>
                <a:latin typeface="Blackadder ITC" panose="04020505051007020D02" pitchFamily="82" charset="0"/>
              </a:rPr>
              <a:t>Example</a:t>
            </a:r>
            <a:r>
              <a:rPr lang="en-US" dirty="0">
                <a:solidFill>
                  <a:srgbClr val="66CCFF"/>
                </a:solidFill>
                <a:latin typeface="Blackadder ITC" panose="04020505051007020D02" pitchFamily="82" charset="0"/>
              </a:rPr>
              <a:t>: let total = 10 + 5;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95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CC9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dirty="0">
                <a:solidFill>
                  <a:srgbClr val="66CCFF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Blackadder ITC" panose="04020505051007020D02" pitchFamily="82" charset="0"/>
              </a:rPr>
              <a:t>5 </a:t>
            </a:r>
            <a:r>
              <a:rPr lang="en-US" dirty="0">
                <a:solidFill>
                  <a:srgbClr val="002060"/>
                </a:solidFill>
                <a:latin typeface="Blackadder ITC" panose="04020505051007020D02" pitchFamily="82" charset="0"/>
              </a:rPr>
              <a:t>+ 3 * 2 = 11</a:t>
            </a:r>
          </a:p>
          <a:p>
            <a:pPr>
              <a:defRPr sz="2200"/>
            </a:pPr>
            <a:r>
              <a:rPr lang="en-US" dirty="0">
                <a:solidFill>
                  <a:srgbClr val="002060"/>
                </a:solidFill>
              </a:rPr>
              <a:t>•</a:t>
            </a:r>
            <a:r>
              <a:rPr lang="en-US" dirty="0" smtClean="0">
                <a:solidFill>
                  <a:srgbClr val="002060"/>
                </a:solidFill>
                <a:latin typeface="Blackadder ITC" panose="04020505051007020D02" pitchFamily="82" charset="0"/>
              </a:rPr>
              <a:t>(</a:t>
            </a:r>
            <a:r>
              <a:rPr lang="en-US" dirty="0">
                <a:solidFill>
                  <a:srgbClr val="002060"/>
                </a:solidFill>
                <a:latin typeface="Blackadder ITC" panose="04020505051007020D02" pitchFamily="82" charset="0"/>
              </a:rPr>
              <a:t>5 + 3) * 2 = 16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4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</a:rPr>
              <a:t>if...else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lang="en-US" dirty="0">
                <a:solidFill>
                  <a:srgbClr val="FF66FF"/>
                </a:solidFill>
              </a:rPr>
              <a:t>•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if 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(marks &gt;= 50) {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</a:rPr>
              <a:t>•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console.log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('Pass');</a:t>
            </a:r>
          </a:p>
          <a:p>
            <a:pPr>
              <a:defRPr sz="2200"/>
            </a:pPr>
            <a:r>
              <a:rPr lang="en-US" dirty="0" smtClean="0">
                <a:solidFill>
                  <a:srgbClr val="FF66FF"/>
                </a:solidFill>
              </a:rPr>
              <a:t>•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} 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else {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</a:rPr>
              <a:t>•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console.log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('Fail');</a:t>
            </a:r>
          </a:p>
          <a:p>
            <a:pPr>
              <a:defRPr sz="2200"/>
            </a:pPr>
            <a:r>
              <a:rPr lang="en-US" dirty="0" smtClean="0">
                <a:solidFill>
                  <a:srgbClr val="FF66FF"/>
                </a:solidFill>
              </a:rPr>
              <a:t>•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}</a:t>
            </a:r>
            <a:endParaRPr lang="en-US" dirty="0">
              <a:solidFill>
                <a:srgbClr val="FF66FF"/>
              </a:solidFill>
              <a:latin typeface="Blackadder ITC" panose="04020505051007020D02" pitchFamily="8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81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ush Script MT" panose="03060802040406070304" pitchFamily="66" charset="0"/>
              </a:rPr>
              <a:t>Mini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•</a:t>
            </a:r>
            <a:r>
              <a:rPr lang="en-US" dirty="0">
                <a:solidFill>
                  <a:srgbClr val="FF66FF"/>
                </a:solidFill>
              </a:rPr>
              <a:t> </a:t>
            </a:r>
            <a:r>
              <a:rPr lang="en-US" dirty="0" smtClean="0">
                <a:solidFill>
                  <a:srgbClr val="FFC000"/>
                </a:solidFill>
                <a:latin typeface="Blackadder ITC" panose="04020505051007020D02" pitchFamily="82" charset="0"/>
              </a:rPr>
              <a:t>Student </a:t>
            </a:r>
            <a:r>
              <a:rPr lang="en-US" dirty="0">
                <a:solidFill>
                  <a:srgbClr val="FFC000"/>
                </a:solidFill>
                <a:latin typeface="Blackadder ITC" panose="04020505051007020D02" pitchFamily="82" charset="0"/>
              </a:rPr>
              <a:t>Grade Checker</a:t>
            </a:r>
          </a:p>
          <a:p>
            <a:pPr>
              <a:defRPr sz="2200"/>
            </a:pPr>
            <a:r>
              <a:rPr lang="en-US" dirty="0" smtClean="0">
                <a:solidFill>
                  <a:srgbClr val="FFC000"/>
                </a:solidFill>
              </a:rPr>
              <a:t>•</a:t>
            </a:r>
            <a:r>
              <a:rPr lang="en-US" dirty="0" smtClean="0">
                <a:solidFill>
                  <a:srgbClr val="FFC000"/>
                </a:solidFill>
                <a:latin typeface="Blackadder ITC" panose="04020505051007020D02" pitchFamily="82" charset="0"/>
              </a:rPr>
              <a:t>Input </a:t>
            </a:r>
            <a:r>
              <a:rPr lang="en-US" dirty="0">
                <a:solidFill>
                  <a:srgbClr val="FFC000"/>
                </a:solidFill>
                <a:latin typeface="Blackadder ITC" panose="04020505051007020D02" pitchFamily="82" charset="0"/>
              </a:rPr>
              <a:t>Marks → Check Condition → Pass/Fail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13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Summary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•</a:t>
            </a:r>
            <a:r>
              <a:rPr lang="en-US" dirty="0" smtClean="0">
                <a:solidFill>
                  <a:srgbClr val="FF66FF"/>
                </a:solidFill>
                <a:latin typeface="Blackadder ITC" panose="04020505051007020D02" pitchFamily="82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Alerts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• Variables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• Variable Names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• Math Expressions</a:t>
            </a:r>
          </a:p>
          <a:p>
            <a:pPr>
              <a:defRPr sz="2200"/>
            </a:pPr>
            <a:r>
              <a:rPr lang="en-US" dirty="0">
                <a:solidFill>
                  <a:srgbClr val="FF66FF"/>
                </a:solidFill>
                <a:latin typeface="Blackadder ITC" panose="04020505051007020D02" pitchFamily="82" charset="0"/>
              </a:rPr>
              <a:t>• if...else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0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anose="04020505051007020D02" pitchFamily="82" charset="0"/>
              </a:rPr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C66FF"/>
                </a:solidFill>
              </a:rPr>
              <a:t>• </a:t>
            </a:r>
            <a:r>
              <a:rPr lang="en-US" b="1" dirty="0" smtClean="0">
                <a:solidFill>
                  <a:srgbClr val="CC99FF"/>
                </a:solidFill>
                <a:latin typeface="Blackadder ITC" panose="04020505051007020D02" pitchFamily="82" charset="0"/>
              </a:rPr>
              <a:t>Thank </a:t>
            </a:r>
            <a:r>
              <a:rPr lang="en-US" b="1" dirty="0">
                <a:solidFill>
                  <a:srgbClr val="CC99FF"/>
                </a:solidFill>
                <a:latin typeface="Blackadder ITC" panose="04020505051007020D02" pitchFamily="82" charset="0"/>
              </a:rPr>
              <a:t>you for listening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2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187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Algerian</vt:lpstr>
      <vt:lpstr>Arial</vt:lpstr>
      <vt:lpstr>Bahnschrift Light</vt:lpstr>
      <vt:lpstr>Bahnschrift Light SemiCondensed</vt:lpstr>
      <vt:lpstr>Blackadder ITC</vt:lpstr>
      <vt:lpstr>Brush Script MT</vt:lpstr>
      <vt:lpstr>Calibri</vt:lpstr>
      <vt:lpstr>Calibri Light</vt:lpstr>
      <vt:lpstr>Castellar</vt:lpstr>
      <vt:lpstr>Edwardian Script ITC</vt:lpstr>
      <vt:lpstr>Vivaldi</vt:lpstr>
      <vt:lpstr>Office Theme</vt:lpstr>
      <vt:lpstr>JavaScript Basics</vt:lpstr>
      <vt:lpstr>Introduction to JavaScript</vt:lpstr>
      <vt:lpstr>Alerts</vt:lpstr>
      <vt:lpstr>Variables</vt:lpstr>
      <vt:lpstr>Variable Names</vt:lpstr>
      <vt:lpstr>Math Expressions</vt:lpstr>
      <vt:lpstr>Operator Precedence</vt:lpstr>
      <vt:lpstr>if...else</vt:lpstr>
      <vt:lpstr>Mini Project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Basics</dc:title>
  <dc:creator>home</dc:creator>
  <cp:lastModifiedBy>home</cp:lastModifiedBy>
  <cp:revision>2</cp:revision>
  <dcterms:created xsi:type="dcterms:W3CDTF">2026-06-26T13:57:56Z</dcterms:created>
  <dcterms:modified xsi:type="dcterms:W3CDTF">2026-06-26T14:06:38Z</dcterms:modified>
</cp:coreProperties>
</file>